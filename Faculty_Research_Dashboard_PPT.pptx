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63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Faculty Research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C8961A"/>
                </a:solidFill>
              </a:rPr>
              <a:t>Analytics Dashboard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</a:rPr>
              <a:t>Power BI Project — School of Computer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</a:rPr>
              <a:t>MIT World Peace University  |  Academic Year 2025–26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</a:rPr>
              <a:t>Data Source: Faculty Research Records  |  Tool: Microsoft Power BI Desktop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657600" cy="0"/>
          </a:xfrm>
          <a:prstGeom prst="line">
            <a:avLst/>
          </a:prstGeom>
          <a:noFill/>
          <a:ln w="19050">
            <a:solidFill>
              <a:srgbClr val="C896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What we cover across 12 slides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252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What this project is and why we built 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65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0482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Source data, fields, and structure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59736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4780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Objectives &amp; KPIs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6609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Goals and key metrics tracked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090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Wireframe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2735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Layout planning before implementation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685032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703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 — KPI Cards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Four key metric cards with color coding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97680"/>
            <a:ext cx="365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15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 — Charts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4988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H-Index, Patent, Publications visuals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1252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Slicers &amp; Interactivity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14356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Filters and cross-visual interactions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847088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Feedback Mechanism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0482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Google Form integration and button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459736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2478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Before vs After Refinement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26609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Optimization journey comparison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072384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Performance Testing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32735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 Analyzer results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685032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20640" y="3703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3886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What the data tells 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297680"/>
            <a:ext cx="365760" cy="36576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0640" y="4315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4498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Summary and learnings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What we built and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303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About This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This project presents a Faculty Research Analytics Dashboard built using Microsoft Power BI Desktop.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 dashboard visualizes research output data of 8 faculty members from MIT WPU's School of Computer Engineering.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It tracks H-Index scores, research publications, patents, copyrights, and funding across multiple academic indexing systems.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 tool was selected for its ability to create interactive, data-driven reports without writing code.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 project follows a structured workflow: data preparation → wireframe → implementation → feedback → optimization.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8932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Tool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572768"/>
            <a:ext cx="28346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5727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Microsoft Power BI Desktop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Project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715768"/>
            <a:ext cx="28346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715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Data Analytics &amp; Visualization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Domain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675888"/>
            <a:ext cx="2834640" cy="5486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Academic Research 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Faculty 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4343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Data Fields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4636008"/>
            <a:ext cx="13258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46360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961A"/>
                </a:solidFill>
              </a:rPr>
              <a:t>8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406640" y="4636008"/>
            <a:ext cx="14173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4636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961A"/>
                </a:solidFill>
              </a:rPr>
              <a:t>13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Source, structure, and fields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Source 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1148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CCA_2_Excel_Sheets.xlsx  →  Research Sheet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207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Faculty Members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44752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Ram Patil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773936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Sneha Kulkarni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Amit Sharma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432304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Priya Nair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1444752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Rahul Deshmukh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773936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Neha Verma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103120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Karan Mehta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2432304"/>
            <a:ext cx="2011680" cy="256032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Anjali Gupta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Data Fields (13 columns)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212848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Faculty Name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0280" y="22128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Identifier for each researcher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468880"/>
            <a:ext cx="4114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Google H-Index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0280" y="24688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Citations score from Google Scholar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724912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724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Scopus H-Index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40280" y="27249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Citations score from Elsevier Scopus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980944"/>
            <a:ext cx="4114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980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WoS H-Index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0280" y="29809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Citations score from Web of Science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236976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236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Conf papers — Scopus &amp; WoS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40280" y="32369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Conference publications count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493008"/>
            <a:ext cx="4114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Journal papers — Scopus &amp; WoS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40280" y="34930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Journal publications count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749040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Patents Granted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40280" y="3749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Granted patent count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005072"/>
            <a:ext cx="4114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Patents Published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40280" y="40050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Published (pending) patent count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261104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Copyrights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40280" y="42611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Registered copyrights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517136"/>
            <a:ext cx="4114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Research Grants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240280" y="45171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Number of funded grants received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773168"/>
            <a:ext cx="4114800" cy="228600"/>
          </a:xfrm>
          <a:prstGeom prst="rect">
            <a:avLst/>
          </a:prstGeom>
          <a:solidFill>
            <a:srgbClr val="F8FAFD"/>
          </a:solidFill>
          <a:ln w="3810">
            <a:solidFill>
              <a:srgbClr val="E0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Funding in Lakhs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40280" y="4773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Monetary value of research funding</a:t>
            </a:r>
            <a:endParaRPr lang="en-US" sz="85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DDD728-D4AE-573A-1CC1-4F02672A7F46}"/>
              </a:ext>
            </a:extLst>
          </p:cNvPr>
          <p:cNvSpPr txBox="1"/>
          <p:nvPr/>
        </p:nvSpPr>
        <p:spPr>
          <a:xfrm>
            <a:off x="4656406" y="2991088"/>
            <a:ext cx="4304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Like this there are in total 1001 samples</a:t>
            </a:r>
            <a:endParaRPr lang="en-IN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Objectives &amp; Key Performance Indicators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What the dashboard is designed to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261872"/>
            <a:ext cx="7955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261872"/>
            <a:ext cx="54864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3075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Compare H-Index scores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5361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Rank faculty by research influence across Google Scholar, Scopus, and Web of Science simultaneously.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84248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1984248"/>
            <a:ext cx="7955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1984248"/>
            <a:ext cx="54864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02996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Track research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258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Visualize conference and journal publication counts per faculty across multiple indexing databases.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2706624"/>
            <a:ext cx="7955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2706624"/>
            <a:ext cx="54864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7523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Monitor patent activity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809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Show ratio of patents granted vs published to assess intellectual property productivity.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3429000"/>
            <a:ext cx="7955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3429000"/>
            <a:ext cx="54864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47472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Analyse funding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Identify which faculty attract the most research funding and grants in monetary terms.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51376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8680" y="4151376"/>
            <a:ext cx="79552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" y="4151376"/>
            <a:ext cx="54864" cy="6035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1970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Enable dynamic filtering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44256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Allow viewers to filter all charts by faculty name or grants range using interactive slicers.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Wireframe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Layout blueprint planned before 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We created a wireframe page inside Power BI (Insert → Shapes) to plan the visual layout before building any chart. This ensures structured placement of all 7 zones.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552237" cy="294437"/>
          </a:xfrm>
          <a:prstGeom prst="rect">
            <a:avLst/>
          </a:prstGeom>
          <a:solidFill>
            <a:srgbClr val="D6DAF5"/>
          </a:solidFill>
          <a:ln w="12700">
            <a:solidFill>
              <a:srgbClr val="7B6FC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7472" y="1618488"/>
            <a:ext cx="55065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1 — Header Banner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20040" y="1936699"/>
            <a:ext cx="1345997" cy="399593"/>
          </a:xfrm>
          <a:prstGeom prst="rect">
            <a:avLst/>
          </a:prstGeom>
          <a:solidFill>
            <a:srgbClr val="FFF8E6"/>
          </a:solidFill>
          <a:ln w="12700">
            <a:solidFill>
              <a:srgbClr val="C8922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7472" y="1954987"/>
            <a:ext cx="13002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KPI 1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Funding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708099" y="1936699"/>
            <a:ext cx="1345997" cy="399593"/>
          </a:xfrm>
          <a:prstGeom prst="rect">
            <a:avLst/>
          </a:prstGeom>
          <a:solidFill>
            <a:srgbClr val="E8F4FF"/>
          </a:solidFill>
          <a:ln w="12700">
            <a:solidFill>
              <a:srgbClr val="2E7EC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735531" y="1954987"/>
            <a:ext cx="13002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KPI 2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Grants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096158" y="1936699"/>
            <a:ext cx="1345997" cy="399593"/>
          </a:xfrm>
          <a:prstGeom prst="rect">
            <a:avLst/>
          </a:prstGeom>
          <a:solidFill>
            <a:srgbClr val="F0F0F0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123590" y="1954987"/>
            <a:ext cx="13002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KPI 3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Patents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484218" y="1936699"/>
            <a:ext cx="1388059" cy="399593"/>
          </a:xfrm>
          <a:prstGeom prst="rect">
            <a:avLst/>
          </a:prstGeom>
          <a:solidFill>
            <a:srgbClr val="FFF0F5"/>
          </a:solidFill>
          <a:ln w="12700">
            <a:solidFill>
              <a:srgbClr val="C060A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11650" y="1954987"/>
            <a:ext cx="134233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KPI 4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Copyrights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20040" y="2378354"/>
            <a:ext cx="3407054" cy="1114654"/>
          </a:xfrm>
          <a:prstGeom prst="rect">
            <a:avLst/>
          </a:prstGeom>
          <a:solidFill>
            <a:srgbClr val="F0F5FF"/>
          </a:solidFill>
          <a:ln w="12700">
            <a:solidFill>
              <a:srgbClr val="5575B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47472" y="2396642"/>
            <a:ext cx="3361334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3 — H-Index Bar Chart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69157" y="2378354"/>
            <a:ext cx="2082089" cy="1114654"/>
          </a:xfrm>
          <a:prstGeom prst="rect">
            <a:avLst/>
          </a:prstGeom>
          <a:solidFill>
            <a:srgbClr val="F5F0FF"/>
          </a:solidFill>
          <a:ln w="12700">
            <a:solidFill>
              <a:srgbClr val="7B6FC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796589" y="2396642"/>
            <a:ext cx="2036369" cy="108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4 — Patent Donut Chart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20040" y="3535070"/>
            <a:ext cx="3343961" cy="1009498"/>
          </a:xfrm>
          <a:prstGeom prst="rect">
            <a:avLst/>
          </a:prstGeom>
          <a:solidFill>
            <a:srgbClr val="F0FFF5"/>
          </a:solidFill>
          <a:ln w="12700">
            <a:solidFill>
              <a:srgbClr val="3A8A5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47472" y="3553358"/>
            <a:ext cx="3298241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5 — Publications Chart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27094" y="3535070"/>
            <a:ext cx="1367028" cy="1009498"/>
          </a:xfrm>
          <a:prstGeom prst="rect">
            <a:avLst/>
          </a:prstGeom>
          <a:solidFill>
            <a:srgbClr val="FAF0FF"/>
          </a:solidFill>
          <a:ln w="12700">
            <a:solidFill>
              <a:srgbClr val="9040C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754526" y="3553358"/>
            <a:ext cx="1321308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6 — Faculty Slicer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36185" y="3535070"/>
            <a:ext cx="736092" cy="1009498"/>
          </a:xfrm>
          <a:prstGeom prst="rect">
            <a:avLst/>
          </a:prstGeom>
          <a:solidFill>
            <a:srgbClr val="FAF0FF"/>
          </a:solidFill>
          <a:ln w="12700">
            <a:solidFill>
              <a:srgbClr val="9040C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163617" y="3553358"/>
            <a:ext cx="690372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Zone 7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Grants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Slicer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74320" y="1554480"/>
            <a:ext cx="5669280" cy="4269334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How We Built 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938528"/>
            <a:ext cx="411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938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 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53796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Added new page in Power BI, renamed to 'Wireframe'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2450592"/>
            <a:ext cx="411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450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 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379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Enabled View → Gridlines and Snap to Grid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962656"/>
            <a:ext cx="411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9626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 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3796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Used Insert → Shapes → Rectangle to draw 7 layout zones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3474720"/>
            <a:ext cx="411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 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37960" y="3493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Added Text Boxes inside each zone to label the planned visual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3986784"/>
            <a:ext cx="41148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39867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 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3796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Used this blueprint to place all actual visuals precisely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KPI Cards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Four key metric cards with color coding and icons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93392" cy="1234440"/>
          </a:xfrm>
          <a:prstGeom prst="rect">
            <a:avLst/>
          </a:prstGeom>
          <a:solidFill>
            <a:srgbClr val="FFF8E6"/>
          </a:solidFill>
          <a:ln w="10160">
            <a:solidFill>
              <a:srgbClr val="C89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1993392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07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60B"/>
                </a:solidFill>
              </a:rPr>
              <a:t>49K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Research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Funding (Lakhs)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860B"/>
                </a:solidFill>
              </a:rPr>
              <a:t>Field: Sum of Funding in Lakhs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78025" y="1243584"/>
            <a:ext cx="1993392" cy="1234440"/>
          </a:xfrm>
          <a:prstGeom prst="rect">
            <a:avLst/>
          </a:prstGeom>
          <a:solidFill>
            <a:srgbClr val="E8F4FF"/>
          </a:solidFill>
          <a:ln w="10160">
            <a:solidFill>
              <a:srgbClr val="2E7E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234440"/>
            <a:ext cx="1993392" cy="73152"/>
          </a:xfrm>
          <a:prstGeom prst="rect">
            <a:avLst/>
          </a:prstGeom>
          <a:solidFill>
            <a:srgbClr val="2E7EC2"/>
          </a:solidFill>
          <a:ln w="12700">
            <a:solidFill>
              <a:srgbClr val="2E7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307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</a:rPr>
              <a:t>2526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96312" y="19659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Grants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96312" y="2487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</a:rPr>
              <a:t>Field: Sum of Research Grants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72584" y="1234440"/>
            <a:ext cx="1993392" cy="1234440"/>
          </a:xfrm>
          <a:prstGeom prst="rect">
            <a:avLst/>
          </a:prstGeom>
          <a:solidFill>
            <a:srgbClr val="F0F0F0"/>
          </a:solidFill>
          <a:ln w="1016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234440"/>
            <a:ext cx="1993392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307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44441"/>
                </a:solidFill>
              </a:rPr>
              <a:t>4857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72584" y="19659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Patents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Granted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72584" y="2487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4441"/>
                </a:solidFill>
              </a:rPr>
              <a:t>Field: Sum of Patents Granted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48856" y="1234440"/>
            <a:ext cx="1993392" cy="1234440"/>
          </a:xfrm>
          <a:prstGeom prst="rect">
            <a:avLst/>
          </a:prstGeom>
          <a:solidFill>
            <a:srgbClr val="FFF0F5"/>
          </a:solidFill>
          <a:ln w="10160">
            <a:solidFill>
              <a:srgbClr val="C06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48856" y="1234440"/>
            <a:ext cx="1993392" cy="73152"/>
          </a:xfrm>
          <a:prstGeom prst="rect">
            <a:avLst/>
          </a:prstGeom>
          <a:solidFill>
            <a:srgbClr val="C060A0"/>
          </a:solidFill>
          <a:ln w="12700">
            <a:solidFill>
              <a:srgbClr val="C06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1307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3556"/>
                </a:solidFill>
              </a:rPr>
              <a:t>5012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48856" y="19659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Copy-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rights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48856" y="24871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3556"/>
                </a:solidFill>
              </a:rPr>
              <a:t>Field: Sum of Copyrights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8503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54864" cy="2148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How KPI Cards Were Formatted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273552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273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Callout Value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Font size 36, Bold weight — makes the number instantly readable from distance.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803904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803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Category Label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Turned ON — shows the metric name below the number as a subtitle.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34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Background Color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535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Each card uses a different light shade: amber, blue, gray, pink.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273552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273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Visual Border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ON with rounded corners (radius 8) — gives a card-like framed look.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803904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803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Icons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Inserted via Insert → Icons, grouped with card using Ctrl+G.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334256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334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Conditional Format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4535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fx button on Callout Value — green if high, red if below target.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— Charts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H-Index comparison, Patent donut, Publications breakdown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98448"/>
            <a:ext cx="146304" cy="146304"/>
          </a:xfrm>
          <a:prstGeom prst="rect">
            <a:avLst/>
          </a:prstGeom>
          <a:solidFill>
            <a:srgbClr val="1A2060"/>
          </a:solidFill>
          <a:ln w="12700">
            <a:solidFill>
              <a:srgbClr val="1A2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98448"/>
            <a:ext cx="146304" cy="146304"/>
          </a:xfrm>
          <a:prstGeom prst="rect">
            <a:avLst/>
          </a:prstGeom>
          <a:solidFill>
            <a:srgbClr val="C8A020"/>
          </a:solidFill>
          <a:ln w="12700">
            <a:solidFill>
              <a:srgbClr val="C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298448"/>
            <a:ext cx="146304" cy="146304"/>
          </a:xfrm>
          <a:prstGeom prst="rect">
            <a:avLst/>
          </a:prstGeom>
          <a:solidFill>
            <a:srgbClr val="3A9A60"/>
          </a:solidFill>
          <a:ln w="12700">
            <a:solidFill>
              <a:srgbClr val="3A9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280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H-Index Comparison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261872"/>
            <a:ext cx="182880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Clustered Bar Chart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1517904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Y-axis: Faculty Name  |  X-axis: Google H-Index + Scopus H-Index + WoS H-Index (3 series)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75564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Insight: Shows all three citation indices side-by-side per faculty. Priya Nair leads across all three.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78608"/>
            <a:ext cx="54864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670048"/>
            <a:ext cx="146304" cy="146304"/>
          </a:xfrm>
          <a:prstGeom prst="rect">
            <a:avLst/>
          </a:prstGeom>
          <a:solidFill>
            <a:srgbClr val="1A2060"/>
          </a:solidFill>
          <a:ln w="12700">
            <a:solidFill>
              <a:srgbClr val="1A2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670048"/>
            <a:ext cx="146304" cy="146304"/>
          </a:xfrm>
          <a:prstGeom prst="rect">
            <a:avLst/>
          </a:prstGeom>
          <a:solidFill>
            <a:srgbClr val="C8A020"/>
          </a:solidFill>
          <a:ln w="12700">
            <a:solidFill>
              <a:srgbClr val="C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651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Patent Status: Granted vs Published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633472"/>
            <a:ext cx="182880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633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Donut Chart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2889504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Values: Patents Granted + Patents Published  |  Detail Labels: Category + Percent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12724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Insight: 61.29% of patents are Granted vs 38.71% Published (pending). Donut chart shows proportion clearly.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50208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50208"/>
            <a:ext cx="54864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4041648"/>
            <a:ext cx="146304" cy="146304"/>
          </a:xfrm>
          <a:prstGeom prst="rect">
            <a:avLst/>
          </a:prstGeom>
          <a:solidFill>
            <a:srgbClr val="1A60A0"/>
          </a:solidFill>
          <a:ln w="12700">
            <a:solidFill>
              <a:srgbClr val="1A6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041648"/>
            <a:ext cx="146304" cy="146304"/>
          </a:xfrm>
          <a:prstGeom prst="rect">
            <a:avLst/>
          </a:prstGeom>
          <a:solidFill>
            <a:srgbClr val="7040B0"/>
          </a:solidFill>
          <a:ln w="12700">
            <a:solidFill>
              <a:srgbClr val="704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4041648"/>
            <a:ext cx="146304" cy="146304"/>
          </a:xfrm>
          <a:prstGeom prst="rect">
            <a:avLst/>
          </a:prstGeom>
          <a:solidFill>
            <a:srgbClr val="C8A020"/>
          </a:solidFill>
          <a:ln w="12700">
            <a:solidFill>
              <a:srgbClr val="C8A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" y="4041648"/>
            <a:ext cx="146304" cy="146304"/>
          </a:xfrm>
          <a:prstGeom prst="rect">
            <a:avLst/>
          </a:prstGeom>
          <a:solidFill>
            <a:srgbClr val="3A9A60"/>
          </a:solidFill>
          <a:ln w="12700">
            <a:solidFill>
              <a:srgbClr val="3A9A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0233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Research Publications Breakdown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4005072"/>
            <a:ext cx="182880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Clustered Column Chart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261104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X-axis: Faculty Name  |  Y-axis: 4 series — Conf Scopus, Journal Scopus, Conf WoS, Journal WoS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49884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Insight: Allows comparing output volume by faculty and by publication type in one grouped view.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Slicers &amp; Interactivity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Dynamic filtering and cross-visual interactions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3520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Faculty Name — Tile Slicer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0B0F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Amit Sharma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55648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0B0F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Karan Mehta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72384" y="166420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8040C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16642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Priya Nair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213969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0B0F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Anjali Gupta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55648" y="213969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0B0F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Neha Verma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72384" y="213969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D0B0F0"/>
          </a:solidFill>
          <a:ln w="6350">
            <a:solidFill>
              <a:srgbClr val="904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Ram Patil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26883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Style: Tile  |  Field: Faculty 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Selected tile turns dark purple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'Select all' button included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207008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07008"/>
            <a:ext cx="54864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Research Grants Range Slicer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1536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Field: Research Grants  |  Style: Between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Two-handle slider filters all charts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 show only faculty in selected grants range.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093976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93976"/>
            <a:ext cx="54864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167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Tooltip on Hover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423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 Tooltip Page created — hovering any bar shows a mini panel with funding, grants and H-Index details.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80944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80944"/>
            <a:ext cx="54864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54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Cross-Visual Filter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3101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Clicking any bar automatically filters the donut and column chart. Managed via Format → Edit Interactions.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867912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67912"/>
            <a:ext cx="54864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Feedback Button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1970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Insert → Buttons → Blank → Action = Web URL → Google Form link. Ctrl+Click to test in desktop.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Feedback Mechanism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Collecting and acting on user feedback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Create 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Google Forms with 3 questions: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Rating (1–5), Confusing visual, Suggestions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55064" y="1408176"/>
            <a:ext cx="109728" cy="0"/>
          </a:xfrm>
          <a:prstGeom prst="line">
            <a:avLst/>
          </a:prstGeom>
          <a:noFill/>
          <a:ln w="25400">
            <a:solidFill>
              <a:srgbClr val="C896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3936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73936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73936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73936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Add Button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65376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Insert → Buttons → Blank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Action = Web URL → paste form link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0" y="1408176"/>
            <a:ext cx="109728" cy="0"/>
          </a:xfrm>
          <a:prstGeom prst="line">
            <a:avLst/>
          </a:prstGeom>
          <a:noFill/>
          <a:ln w="25400">
            <a:solidFill>
              <a:srgbClr val="C896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27832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27832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Test Button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9272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Hold Ctrl + Click button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 Power BI Desktop to verify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62856" y="1408176"/>
            <a:ext cx="109728" cy="0"/>
          </a:xfrm>
          <a:prstGeom prst="line">
            <a:avLst/>
          </a:prstGeom>
          <a:noFill/>
          <a:ln w="25400">
            <a:solidFill>
              <a:srgbClr val="C896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81728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Collect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Responses appear in Google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Forms → Responses tab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16752" y="1408176"/>
            <a:ext cx="109728" cy="0"/>
          </a:xfrm>
          <a:prstGeom prst="line">
            <a:avLst/>
          </a:prstGeom>
          <a:noFill/>
          <a:ln w="25400">
            <a:solidFill>
              <a:srgbClr val="C896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5624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35624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35624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Analyse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27064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Link to Google Sheets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for structured data view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70648" y="1408176"/>
            <a:ext cx="109728" cy="0"/>
          </a:xfrm>
          <a:prstGeom prst="line">
            <a:avLst/>
          </a:prstGeom>
          <a:noFill/>
          <a:ln w="25400">
            <a:solidFill>
              <a:srgbClr val="C896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1207008"/>
            <a:ext cx="1325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12070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61A"/>
                </a:solidFill>
              </a:rPr>
              <a:t>06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589520" y="1664208"/>
            <a:ext cx="1325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89520" y="1664208"/>
            <a:ext cx="54864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</a:rPr>
              <a:t>Optimize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80960" y="201168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Update dashboard based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on user suggestions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004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Feedback Questions Used: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" y="356616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Q1 — Rate the dashboard clarity (Linear scale 1–5)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Q2 — Which visual is most confusing? (Multiple choice: H-Index / Donut / Publications / Slicers / KPIs)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Q3 — What would you improve? (Paragraph response)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32735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Changes Made Based on Feedback: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566160"/>
            <a:ext cx="164592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566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</a:rPr>
              <a:t>Added data labels to all charts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8348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Reason: Charts lacked visible values on bars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4023360"/>
            <a:ext cx="164592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4023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</a:rPr>
              <a:t>Converted list slicer → tile style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83480" y="4224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Reason: List was harder to use on smaller screens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4480560"/>
            <a:ext cx="164592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4480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</a:rPr>
              <a:t>Increased KPI callout font to 36pt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83480" y="4681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Reason: Numbers were too small to read quickly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54880" y="4937760"/>
            <a:ext cx="164592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4937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</a:rPr>
              <a:t>Added chart titles to every visual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83480" y="5138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Reason: Viewers couldn't identify charts without titles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Before vs After — Dashboard Refinement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Showing the optimization journey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OPTIMIZATION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07008"/>
            <a:ext cx="406908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OPTIMIZATION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411480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Default theme colors (no custom palette)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406908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Executive theme + custom hex colors applied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0482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titles on chart visuals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048256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0482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Titles added to every visual (14pt, centered)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411480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data labels visible on bars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06908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450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Data labels ON — Outside End, font 11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Plain list-style slicers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52928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529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Tile-style slicers with selected color highlight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55264"/>
            <a:ext cx="411480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2552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KPI card formatting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06908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25526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Color backgrounds, borders, icons, font 36pt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57600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header — plain text box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657600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657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Styled dark navy header with gold accent border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059936"/>
            <a:ext cx="411480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tooltips on charts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4059936"/>
            <a:ext cx="4069080" cy="347472"/>
          </a:xfrm>
          <a:prstGeom prst="rect">
            <a:avLst/>
          </a:prstGeom>
          <a:solidFill>
            <a:srgbClr val="F8FAFD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40599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Custom tooltip page: mini dashboard on hover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4622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462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No feedback mechanism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4462272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D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44622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6E56"/>
                </a:solidFill>
              </a:rPr>
              <a:t>Google Form button integrated top-right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80560" y="1207008"/>
            <a:ext cx="0" cy="3566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Testing &amp; Optimization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Using Power BI Performance Analyzer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120700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20700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243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View → Performance Analyzer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" y="1453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Open the Performance Analyzer panel from the View tab in the ribbon.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180136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180136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837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Click Start Recording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" y="2048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Begin capturing render time for each visual on the page.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239572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239572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432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Click Refresh Visuals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976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Force all charts to reload — analyzer measures time for each one.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9008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" y="299008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299008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3026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Review Results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0976" y="3236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Each visual shows ms taken. High values (&gt; 300ms) indicate bottlenecks.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58444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4672" y="358444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" y="358444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36210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Apply Optimizations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0976" y="3831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Remove unused columns, simplify DAX, reduce visual count, aggregate data.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178808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1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672" y="417880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4672" y="4178808"/>
            <a:ext cx="54864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4215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Re-run and Compare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0976" y="4425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Run analyzer again after changes to verify improvement in render time.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Optimizations Applied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57800" y="1572768"/>
            <a:ext cx="3566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57800" y="1572768"/>
            <a:ext cx="54864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57800" y="1572768"/>
            <a:ext cx="201168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1645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</a:rPr>
              <a:t>Removed unused columns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3212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Went to Transform Data and deleted columns not used in any visual.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7800" y="2395728"/>
            <a:ext cx="3566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57800" y="2395728"/>
            <a:ext cx="54864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7800" y="2395728"/>
            <a:ext cx="201168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468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</a:rPr>
              <a:t>Simplified aggregations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53212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Used SUM/COUNT/AVERAGE only — avoided nested calculated columns.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57800" y="3218688"/>
            <a:ext cx="3566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57800" y="3218688"/>
            <a:ext cx="54864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57800" y="3218688"/>
            <a:ext cx="201168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32120" y="3291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</a:rPr>
              <a:t>Reduced slicer count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53212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Kept only 2 essential slicers instead of 4 initial ones.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257800" y="4041648"/>
            <a:ext cx="3566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257800" y="4041648"/>
            <a:ext cx="54864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57800" y="4041648"/>
            <a:ext cx="201168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4114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</a:rPr>
              <a:t>Summarized raw data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532120" y="4389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Pre-aggregated data in Power Query before loading to the model.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from the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</a:rPr>
              <a:t>What the Faculty Research Dashboard reveals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737360" cy="10058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173736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860B"/>
                </a:solidFill>
              </a:rPr>
              <a:t>49K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Lakhs — Total Research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Funding across 8 faculty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234440"/>
            <a:ext cx="1737360" cy="10058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2848" y="1234440"/>
            <a:ext cx="17373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A5C"/>
                </a:solidFill>
              </a:rPr>
              <a:t>2526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12848" y="1892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Research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Grants secured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05656" y="1234440"/>
            <a:ext cx="1737360" cy="10058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05656" y="1234440"/>
            <a:ext cx="1737360" cy="640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56"/>
                </a:solidFill>
              </a:rPr>
              <a:t>4857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105656" y="1892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Patents Granted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across all faculty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98464" y="1234440"/>
            <a:ext cx="1737360" cy="10058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1234440"/>
            <a:ext cx="1737360" cy="6400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3556"/>
                </a:solidFill>
              </a:rPr>
              <a:t>61%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98464" y="1892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Patents are Granted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vs 39% Published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91272" y="1234440"/>
            <a:ext cx="1737360" cy="1005840"/>
          </a:xfrm>
          <a:prstGeom prst="rect">
            <a:avLst/>
          </a:prstGeom>
          <a:solidFill>
            <a:srgbClr val="F8FAFD"/>
          </a:solidFill>
          <a:ln w="635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91272" y="1234440"/>
            <a:ext cx="173736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91272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22A"/>
                </a:solidFill>
              </a:rPr>
              <a:t>5012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891272" y="1892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Copyrights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registered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377440"/>
            <a:ext cx="201168" cy="2011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3774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Priya Nair leads in H-Index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2615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Priya Nair scores the highest across all three indexing systems — Google (25), Scopus (21), WoS (18) — making her the top research performer.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907792"/>
            <a:ext cx="201168" cy="2011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Anjali Gupta ranks second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31455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Anjali Gupta is consistently second across Google (23), Scopus (20), WoS (17) — indicating strong multi-platform research presence.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438144"/>
            <a:ext cx="201168" cy="2011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438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Research funding is concentrated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3675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Top 3 faculty by funding (Priya Nair, Anjali Gupta, Neha Verma) account for a disproportionate share of total research funding received.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968496"/>
            <a:ext cx="201168" cy="2011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968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Publication output varies widely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" y="4206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Priya Nair's conference and journal papers in both Scopus and WoS are nearly double that of the lowest performer, Amit Sharma.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498848"/>
            <a:ext cx="201168" cy="201168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498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High patent conversion rate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61.29% of patents are already granted — indicating a mature, productive IP pipeline rather than just applications in-progress.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3200400" cy="0"/>
          </a:xfrm>
          <a:prstGeom prst="line">
            <a:avLst/>
          </a:prstGeom>
          <a:noFill/>
          <a:ln w="19050">
            <a:solidFill>
              <a:srgbClr val="C896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024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Built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280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 fully functional, 4-page Power BI dashboard was created covering H-Index, Patents, Publications, Funding, and Copyrights.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" y="2167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Wireframe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 wireframe page was designed inside Power BI before building — ensuring structured, planned layout across 7 visual zones.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1832" y="3566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 feedback button linked to Google Forms was integrated. Responses were collected and acted upon to refine the dashboard.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30952" y="1024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vs After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0952" y="1280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 dedicated 'Before Optimization' page was created to visually demonstrate the refinement journey and improvements made.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2167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30952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Power BI Performance Analyzer was used to identify and eliminate slow-rendering visuals and unused data columns.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solidFill>
            <a:srgbClr val="C8961A"/>
          </a:solidFill>
          <a:ln w="12700">
            <a:solidFill>
              <a:srgbClr val="C896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Interactivity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30952" y="3566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Tile slicers, range slicers, tooltips, and cross-visual filtering make the dashboard fully interactive for any viewer.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" y="477316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3A5C"/>
                </a:solidFill>
              </a:rPr>
              <a:t>Thank You  |  MIT WPU — School of Computer Engineering  |  Faculty Research Analytics Dashboard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1929</Words>
  <Application>Microsoft Office PowerPoint</Application>
  <PresentationFormat>On-screen Show (16:9)</PresentationFormat>
  <Paragraphs>361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Research Dashboard — MIT WPU</dc:title>
  <dc:subject>PptxGenJS Presentation</dc:subject>
  <dc:creator>PptxGenJS</dc:creator>
  <cp:lastModifiedBy>amanjaiswal.cse@gmail.com</cp:lastModifiedBy>
  <cp:revision>3</cp:revision>
  <dcterms:created xsi:type="dcterms:W3CDTF">2026-04-19T18:10:07Z</dcterms:created>
  <dcterms:modified xsi:type="dcterms:W3CDTF">2026-04-21T16:49:24Z</dcterms:modified>
</cp:coreProperties>
</file>